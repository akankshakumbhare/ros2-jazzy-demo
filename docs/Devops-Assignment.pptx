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6" r:id="rId9"/>
    <p:sldId id="268" r:id="rId10"/>
    <p:sldId id="269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50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62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5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52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57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89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071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20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59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32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777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237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053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066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59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168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43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981A1-1805-4081-B202-8C1042ACDEF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D07C5-2AF0-423F-90D3-13E3DB97D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30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ankshakumbhare/ros2-jazzy-dem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6A89-6E3B-FD92-F8AB-22ED0151F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487141"/>
            <a:ext cx="8791575" cy="2387600"/>
          </a:xfrm>
        </p:spPr>
        <p:txBody>
          <a:bodyPr/>
          <a:lstStyle/>
          <a:p>
            <a:r>
              <a:rPr lang="it-IT" dirty="0"/>
              <a:t>ROS2 Jazzy CI/CD Pipeline Demo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10215-9929-FD17-9E8B-8FD21A777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2961958"/>
            <a:ext cx="8791575" cy="1655762"/>
          </a:xfrm>
        </p:spPr>
        <p:txBody>
          <a:bodyPr/>
          <a:lstStyle/>
          <a:p>
            <a:r>
              <a:rPr lang="en-US" b="1" dirty="0"/>
              <a:t>Implementation of End-to-End Cloud Native DevOps for Robotics Applications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AD30B-A022-F02C-C689-256991233126}"/>
              </a:ext>
            </a:extLst>
          </p:cNvPr>
          <p:cNvSpPr txBox="1"/>
          <p:nvPr/>
        </p:nvSpPr>
        <p:spPr>
          <a:xfrm>
            <a:off x="8410577" y="5950316"/>
            <a:ext cx="380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Akanksha Kumbhare</a:t>
            </a:r>
          </a:p>
          <a:p>
            <a:r>
              <a:rPr lang="en-IN" dirty="0"/>
              <a:t>Kumbhare.akanksha12@gmail.com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2D7E1-33A5-9A73-C9BB-4DD0C9A1368F}"/>
              </a:ext>
            </a:extLst>
          </p:cNvPr>
          <p:cNvSpPr txBox="1"/>
          <p:nvPr/>
        </p:nvSpPr>
        <p:spPr>
          <a:xfrm>
            <a:off x="8410577" y="5512046"/>
            <a:ext cx="3809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by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4AA940-D874-AFEB-6244-59979BA85F97}"/>
              </a:ext>
            </a:extLst>
          </p:cNvPr>
          <p:cNvSpPr txBox="1"/>
          <p:nvPr/>
        </p:nvSpPr>
        <p:spPr>
          <a:xfrm>
            <a:off x="1961009" y="4248388"/>
            <a:ext cx="9002647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Project </a:t>
            </a:r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IN" dirty="0"/>
              <a:t> : </a:t>
            </a:r>
            <a:r>
              <a:rPr lang="en-IN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Akankshakumbhare</a:t>
            </a:r>
            <a:r>
              <a:rPr lang="en-IN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/ros2-jazzy-demo: ros2-jazzy-demo-application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392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C7B3-3252-A9F1-9E2B-8A2A422B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299" y="1007980"/>
            <a:ext cx="4381563" cy="877824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92860-BF04-30D0-D179-0877904BD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409" y="2020832"/>
            <a:ext cx="4657345" cy="4361680"/>
          </a:xfrm>
          <a:ln w="1270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220000"/>
              </a:lnSpc>
              <a:defRPr sz="2000"/>
            </a:pPr>
            <a:r>
              <a:rPr lang="en-US" dirty="0"/>
              <a:t>Automate ROS2 builds and testing</a:t>
            </a:r>
          </a:p>
          <a:p>
            <a:pPr>
              <a:lnSpc>
                <a:spcPct val="220000"/>
              </a:lnSpc>
              <a:defRPr sz="2000"/>
            </a:pPr>
            <a:r>
              <a:rPr lang="en-US" dirty="0"/>
              <a:t>Deploy containerized robotics applications</a:t>
            </a:r>
          </a:p>
          <a:p>
            <a:pPr>
              <a:lnSpc>
                <a:spcPct val="220000"/>
              </a:lnSpc>
              <a:defRPr sz="2000"/>
            </a:pPr>
            <a:r>
              <a:rPr lang="en-US" dirty="0"/>
              <a:t>Provide monitoring and troubleshooting</a:t>
            </a:r>
          </a:p>
          <a:p>
            <a:pPr>
              <a:lnSpc>
                <a:spcPct val="220000"/>
              </a:lnSpc>
              <a:defRPr sz="2000"/>
            </a:pPr>
            <a:r>
              <a:rPr lang="en-US" dirty="0"/>
              <a:t>Ensure secure-by-design architecture</a:t>
            </a:r>
          </a:p>
          <a:p>
            <a:pPr>
              <a:lnSpc>
                <a:spcPct val="220000"/>
              </a:lnSpc>
              <a:defRPr sz="2000"/>
            </a:pPr>
            <a:r>
              <a:rPr lang="en-US" dirty="0"/>
              <a:t>Enable scalable Kubernetes deployments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013DB0-FD26-5544-20AB-D1DF3511A05E}"/>
              </a:ext>
            </a:extLst>
          </p:cNvPr>
          <p:cNvSpPr txBox="1">
            <a:spLocks/>
          </p:cNvSpPr>
          <p:nvPr/>
        </p:nvSpPr>
        <p:spPr>
          <a:xfrm>
            <a:off x="6874731" y="1007980"/>
            <a:ext cx="4381563" cy="877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Solution Overview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0CC7FB-DEA7-F1DA-5137-71A47FA378BD}"/>
              </a:ext>
            </a:extLst>
          </p:cNvPr>
          <p:cNvSpPr txBox="1">
            <a:spLocks/>
          </p:cNvSpPr>
          <p:nvPr/>
        </p:nvSpPr>
        <p:spPr>
          <a:xfrm>
            <a:off x="6527290" y="2020832"/>
            <a:ext cx="5076446" cy="436168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 sz="2000"/>
            </a:pPr>
            <a:r>
              <a:rPr lang="en-IN" sz="1900" dirty="0"/>
              <a:t>Azure DevOps CI/CD Pipeline</a:t>
            </a:r>
          </a:p>
          <a:p>
            <a:pPr>
              <a:lnSpc>
                <a:spcPct val="200000"/>
              </a:lnSpc>
              <a:defRPr sz="2000"/>
            </a:pPr>
            <a:r>
              <a:rPr lang="en-IN" sz="1900" dirty="0"/>
              <a:t>Dockerized ROS2 Jazzy application</a:t>
            </a:r>
          </a:p>
          <a:p>
            <a:pPr>
              <a:lnSpc>
                <a:spcPct val="200000"/>
              </a:lnSpc>
              <a:defRPr sz="2000"/>
            </a:pPr>
            <a:r>
              <a:rPr lang="en-IN" sz="1900" dirty="0"/>
              <a:t>Azure Container Registry (ACR)</a:t>
            </a:r>
          </a:p>
          <a:p>
            <a:pPr>
              <a:lnSpc>
                <a:spcPct val="200000"/>
              </a:lnSpc>
              <a:defRPr sz="2000"/>
            </a:pPr>
            <a:r>
              <a:rPr lang="en-IN" sz="1900" dirty="0"/>
              <a:t>Azure Kubernetes Service (AKS)</a:t>
            </a:r>
          </a:p>
          <a:p>
            <a:pPr>
              <a:lnSpc>
                <a:spcPct val="200000"/>
              </a:lnSpc>
              <a:defRPr sz="2000"/>
            </a:pPr>
            <a:r>
              <a:rPr lang="en-IN" sz="1900" dirty="0"/>
              <a:t>Prometheus and Grafana monitoring</a:t>
            </a:r>
          </a:p>
          <a:p>
            <a:pPr>
              <a:lnSpc>
                <a:spcPct val="200000"/>
              </a:lnSpc>
              <a:defRPr sz="2000"/>
            </a:pPr>
            <a:r>
              <a:rPr lang="en-IN" sz="1900" dirty="0"/>
              <a:t>TLS-secured ingress deployment</a:t>
            </a:r>
          </a:p>
        </p:txBody>
      </p:sp>
    </p:spTree>
    <p:extLst>
      <p:ext uri="{BB962C8B-B14F-4D97-AF65-F5344CB8AC3E}">
        <p14:creationId xmlns:p14="http://schemas.microsoft.com/office/powerpoint/2010/main" val="74093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CF13-774F-3D17-59DB-C00527A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829" y="470181"/>
            <a:ext cx="9905998" cy="910626"/>
          </a:xfrm>
        </p:spPr>
        <p:txBody>
          <a:bodyPr/>
          <a:lstStyle/>
          <a:p>
            <a:r>
              <a:rPr lang="en-IN" dirty="0"/>
              <a:t>High-Level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7F092-362E-B7D8-C640-CEA3CF141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85" y="1969070"/>
            <a:ext cx="9905999" cy="3541714"/>
          </a:xfrm>
        </p:spPr>
        <p:txBody>
          <a:bodyPr/>
          <a:lstStyle/>
          <a:p>
            <a:pPr>
              <a:defRPr sz="2000"/>
            </a:pPr>
            <a:r>
              <a:rPr lang="en-US" dirty="0"/>
              <a:t>Developer pushes code to GitHub.</a:t>
            </a:r>
          </a:p>
          <a:p>
            <a:pPr>
              <a:defRPr sz="2000"/>
            </a:pPr>
            <a:r>
              <a:rPr lang="en-US" dirty="0"/>
              <a:t>Azure DevOps triggers pipeline.</a:t>
            </a:r>
          </a:p>
          <a:p>
            <a:pPr>
              <a:defRPr sz="2000"/>
            </a:pPr>
            <a:r>
              <a:rPr lang="en-US" dirty="0"/>
              <a:t>Docker image build and validation.</a:t>
            </a:r>
          </a:p>
          <a:p>
            <a:pPr>
              <a:defRPr sz="2000"/>
            </a:pPr>
            <a:r>
              <a:rPr lang="en-US" dirty="0"/>
              <a:t>Image pushed to Azure Container Registry.</a:t>
            </a:r>
          </a:p>
          <a:p>
            <a:pPr>
              <a:defRPr sz="2000"/>
            </a:pPr>
            <a:r>
              <a:rPr lang="en-US" dirty="0"/>
              <a:t>Application deployed to AKS.</a:t>
            </a:r>
          </a:p>
          <a:p>
            <a:pPr>
              <a:defRPr sz="2000"/>
            </a:pPr>
            <a:r>
              <a:rPr lang="en-US" dirty="0"/>
              <a:t>Prometheus and Grafana monitor workloads.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2FA35-90D4-82BF-A3F8-381F26C28F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84" y="1453959"/>
            <a:ext cx="6337427" cy="45719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00747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AD165-DBDC-27C4-BAF4-6611419A1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954250"/>
          </a:xfrm>
        </p:spPr>
        <p:txBody>
          <a:bodyPr/>
          <a:lstStyle/>
          <a:p>
            <a:r>
              <a:rPr lang="en-IN" dirty="0"/>
              <a:t>ROS2 Demo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1A6B-E519-5D54-23DB-E9EE6AAFB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954251"/>
            <a:ext cx="9905999" cy="2108990"/>
          </a:xfrm>
          <a:ln w="6350">
            <a:solidFill>
              <a:schemeClr val="tx1"/>
            </a:solidFill>
          </a:ln>
        </p:spPr>
        <p:txBody>
          <a:bodyPr/>
          <a:lstStyle/>
          <a:p>
            <a:pPr>
              <a:defRPr sz="2000"/>
            </a:pPr>
            <a:r>
              <a:rPr lang="en-US" dirty="0"/>
              <a:t>ROS2 Jazzy minimal publisher/subscriber example.</a:t>
            </a:r>
          </a:p>
          <a:p>
            <a:pPr>
              <a:defRPr sz="2000"/>
            </a:pPr>
            <a:r>
              <a:rPr lang="en-US" dirty="0"/>
              <a:t>Publishes 'Hello, world!' messages.</a:t>
            </a:r>
          </a:p>
          <a:p>
            <a:pPr>
              <a:defRPr sz="2000"/>
            </a:pPr>
            <a:r>
              <a:rPr lang="en-US" dirty="0"/>
              <a:t>Lightweight and ideal for CI/CD demonstrations.</a:t>
            </a:r>
          </a:p>
          <a:p>
            <a:pPr>
              <a:defRPr sz="2000"/>
            </a:pPr>
            <a:r>
              <a:rPr lang="en-US" dirty="0"/>
              <a:t>Used for runtime validation in pipeline.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B0EC8E-FE16-8FAA-E8D4-2B10677FB803}"/>
              </a:ext>
            </a:extLst>
          </p:cNvPr>
          <p:cNvSpPr txBox="1">
            <a:spLocks/>
          </p:cNvSpPr>
          <p:nvPr/>
        </p:nvSpPr>
        <p:spPr>
          <a:xfrm>
            <a:off x="1049973" y="3282696"/>
            <a:ext cx="9905998" cy="679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Docker Containerization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DD8C36-D878-6CE2-5236-BBFDB38D07B9}"/>
              </a:ext>
            </a:extLst>
          </p:cNvPr>
          <p:cNvSpPr txBox="1">
            <a:spLocks/>
          </p:cNvSpPr>
          <p:nvPr/>
        </p:nvSpPr>
        <p:spPr>
          <a:xfrm>
            <a:off x="1142999" y="4108930"/>
            <a:ext cx="9905999" cy="2212785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IN" sz="2000"/>
              <a:t>Base image: ros:jazzy-ros-base</a:t>
            </a:r>
          </a:p>
          <a:p>
            <a:pPr>
              <a:defRPr sz="2000"/>
            </a:pPr>
            <a:r>
              <a:rPr lang="en-IN" sz="2000"/>
              <a:t>Containerized ROS2 runtime</a:t>
            </a:r>
          </a:p>
          <a:p>
            <a:pPr>
              <a:defRPr sz="2000"/>
            </a:pPr>
            <a:r>
              <a:rPr lang="en-IN" sz="2000"/>
              <a:t>Consistent deployment environment</a:t>
            </a:r>
          </a:p>
          <a:p>
            <a:pPr>
              <a:defRPr sz="2000"/>
            </a:pPr>
            <a:r>
              <a:rPr lang="en-IN" sz="2000"/>
              <a:t>Immutable and portable deployments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769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2BA0-6B55-6D45-4863-B31012BF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Azure DevOps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FC710-CD62-BB66-0CA0-740DBA2C8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Automatic trigger on every commit</a:t>
            </a:r>
          </a:p>
          <a:p>
            <a:pPr>
              <a:defRPr sz="2000"/>
            </a:pPr>
            <a:r>
              <a:rPr lang="en-US" dirty="0"/>
              <a:t>Build and Push Docker image</a:t>
            </a:r>
          </a:p>
          <a:p>
            <a:pPr>
              <a:defRPr sz="2000"/>
            </a:pPr>
            <a:r>
              <a:rPr lang="en-US" dirty="0"/>
              <a:t>Run ROS2 validation container</a:t>
            </a:r>
          </a:p>
          <a:p>
            <a:pPr>
              <a:defRPr sz="2000"/>
            </a:pPr>
            <a:r>
              <a:rPr lang="en-US" dirty="0"/>
              <a:t>Publish logs and artifacts</a:t>
            </a:r>
          </a:p>
          <a:p>
            <a:pPr>
              <a:defRPr sz="2000"/>
            </a:pPr>
            <a:r>
              <a:rPr lang="en-US" dirty="0"/>
              <a:t>Deploy automatically to AKS</a:t>
            </a:r>
          </a:p>
        </p:txBody>
      </p:sp>
    </p:spTree>
    <p:extLst>
      <p:ext uri="{BB962C8B-B14F-4D97-AF65-F5344CB8AC3E}">
        <p14:creationId xmlns:p14="http://schemas.microsoft.com/office/powerpoint/2010/main" val="303978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10A7-3937-49A1-20C7-9F033124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0312"/>
            <a:ext cx="9905998" cy="923544"/>
          </a:xfrm>
        </p:spPr>
        <p:txBody>
          <a:bodyPr/>
          <a:lstStyle/>
          <a:p>
            <a:r>
              <a:rPr lang="en-IN" dirty="0"/>
              <a:t>Azure Container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FEC1-B571-04CF-2136-1D174D105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978408"/>
            <a:ext cx="9905999" cy="2112264"/>
          </a:xfrm>
          <a:ln w="6350">
            <a:solidFill>
              <a:schemeClr val="tx1"/>
            </a:solidFill>
          </a:ln>
        </p:spPr>
        <p:txBody>
          <a:bodyPr/>
          <a:lstStyle/>
          <a:p>
            <a:pPr>
              <a:defRPr sz="2000"/>
            </a:pPr>
            <a:r>
              <a:rPr lang="en-US" dirty="0"/>
              <a:t>Stores versioned Docker images</a:t>
            </a:r>
          </a:p>
          <a:p>
            <a:pPr>
              <a:defRPr sz="2000"/>
            </a:pPr>
            <a:r>
              <a:rPr lang="en-US" dirty="0"/>
              <a:t>Private and secure registry</a:t>
            </a:r>
          </a:p>
          <a:p>
            <a:pPr>
              <a:defRPr sz="2000"/>
            </a:pPr>
            <a:r>
              <a:rPr lang="en-US" dirty="0"/>
              <a:t>Integrated with AKS</a:t>
            </a:r>
          </a:p>
          <a:p>
            <a:pPr>
              <a:defRPr sz="2000"/>
            </a:pPr>
            <a:r>
              <a:rPr lang="en-US" dirty="0"/>
              <a:t>Supports automated deployments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A0D0BB-F867-7BC9-F570-0B3313A08B15}"/>
              </a:ext>
            </a:extLst>
          </p:cNvPr>
          <p:cNvSpPr txBox="1">
            <a:spLocks/>
          </p:cNvSpPr>
          <p:nvPr/>
        </p:nvSpPr>
        <p:spPr>
          <a:xfrm>
            <a:off x="1143001" y="3224558"/>
            <a:ext cx="9905998" cy="634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AKS Deployment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517D5A-3B2B-14B6-ADFA-6DC0ADAFD065}"/>
              </a:ext>
            </a:extLst>
          </p:cNvPr>
          <p:cNvSpPr txBox="1">
            <a:spLocks/>
          </p:cNvSpPr>
          <p:nvPr/>
        </p:nvSpPr>
        <p:spPr>
          <a:xfrm>
            <a:off x="960120" y="3959415"/>
            <a:ext cx="9905999" cy="2578545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000"/>
              <a:t>Kubernetes Deployment and Service</a:t>
            </a:r>
          </a:p>
          <a:p>
            <a:pPr>
              <a:defRPr sz="2000"/>
            </a:pPr>
            <a:r>
              <a:rPr lang="en-US" sz="2000"/>
              <a:t>Self-healing pods</a:t>
            </a:r>
          </a:p>
          <a:p>
            <a:pPr>
              <a:defRPr sz="2000"/>
            </a:pPr>
            <a:r>
              <a:rPr lang="en-US" sz="2000"/>
              <a:t>Rolling updates</a:t>
            </a:r>
          </a:p>
          <a:p>
            <a:pPr>
              <a:defRPr sz="2000"/>
            </a:pPr>
            <a:r>
              <a:rPr lang="en-US" sz="2000"/>
              <a:t>Scalable orchestration platform</a:t>
            </a:r>
          </a:p>
          <a:p>
            <a:pPr>
              <a:defRPr sz="2000"/>
            </a:pPr>
            <a:r>
              <a:rPr lang="en-US" sz="2000"/>
              <a:t>Cloud-native deployment model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0939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0D3B-20C5-B175-05B2-D1CBD44BE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9188D-DD52-90F3-9309-45DDFA8F4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TLS ingress configuration</a:t>
            </a:r>
          </a:p>
          <a:p>
            <a:pPr>
              <a:defRPr sz="2000"/>
            </a:pPr>
            <a:r>
              <a:rPr lang="en-US" dirty="0"/>
              <a:t>Kubernetes TLS secrets</a:t>
            </a:r>
          </a:p>
          <a:p>
            <a:pPr>
              <a:defRPr sz="2000"/>
            </a:pPr>
            <a:r>
              <a:rPr lang="en-US" dirty="0"/>
              <a:t>Private image pulls from ACR</a:t>
            </a:r>
          </a:p>
          <a:p>
            <a:pPr>
              <a:defRPr sz="2000"/>
            </a:pPr>
            <a:r>
              <a:rPr lang="en-US" dirty="0"/>
              <a:t>Controlled CI/CD deployments</a:t>
            </a:r>
          </a:p>
          <a:p>
            <a:pPr>
              <a:defRPr sz="2000"/>
            </a:pPr>
            <a:r>
              <a:rPr lang="en-US" dirty="0"/>
              <a:t>Secure-by-design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613998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A60C-384F-653E-D70D-F6B348991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59437"/>
            <a:ext cx="9905998" cy="707362"/>
          </a:xfrm>
        </p:spPr>
        <p:txBody>
          <a:bodyPr/>
          <a:lstStyle/>
          <a:p>
            <a:r>
              <a:rPr lang="en-IN" dirty="0"/>
              <a:t>Monitoring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A420-29A5-96D1-086A-BF11505EC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61351"/>
            <a:ext cx="9905999" cy="2063207"/>
          </a:xfrm>
          <a:ln w="6350">
            <a:solidFill>
              <a:schemeClr val="tx1"/>
            </a:solidFill>
          </a:ln>
        </p:spPr>
        <p:txBody>
          <a:bodyPr/>
          <a:lstStyle/>
          <a:p>
            <a:pPr>
              <a:defRPr sz="2000"/>
            </a:pPr>
            <a:r>
              <a:rPr lang="en-IN" dirty="0"/>
              <a:t>Prometheus for metrics collection</a:t>
            </a:r>
          </a:p>
          <a:p>
            <a:pPr>
              <a:defRPr sz="2000"/>
            </a:pPr>
            <a:r>
              <a:rPr lang="en-IN" dirty="0"/>
              <a:t>Grafana dashboards</a:t>
            </a:r>
          </a:p>
          <a:p>
            <a:pPr>
              <a:defRPr sz="2000"/>
            </a:pPr>
            <a:r>
              <a:rPr lang="en-IN" dirty="0"/>
              <a:t>Kubernetes logs for troubleshooting</a:t>
            </a:r>
          </a:p>
          <a:p>
            <a:pPr>
              <a:defRPr sz="2000"/>
            </a:pPr>
            <a:r>
              <a:rPr lang="en-IN" dirty="0"/>
              <a:t>CPU, memory, network and pod monitoring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2AE7CF-5B9E-9D32-55E1-248D6A6F4FE8}"/>
              </a:ext>
            </a:extLst>
          </p:cNvPr>
          <p:cNvSpPr txBox="1">
            <a:spLocks/>
          </p:cNvSpPr>
          <p:nvPr/>
        </p:nvSpPr>
        <p:spPr>
          <a:xfrm>
            <a:off x="1143000" y="3224558"/>
            <a:ext cx="9905998" cy="1063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Grafana Dashboard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231723-B340-0219-B311-88A5BF496CDB}"/>
              </a:ext>
            </a:extLst>
          </p:cNvPr>
          <p:cNvSpPr txBox="1">
            <a:spLocks/>
          </p:cNvSpPr>
          <p:nvPr/>
        </p:nvSpPr>
        <p:spPr>
          <a:xfrm>
            <a:off x="1142999" y="4256161"/>
            <a:ext cx="9905999" cy="2063207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000"/>
              <a:t>Real-time cluster monitoring</a:t>
            </a:r>
          </a:p>
          <a:p>
            <a:pPr>
              <a:defRPr sz="2000"/>
            </a:pPr>
            <a:r>
              <a:rPr lang="en-US" sz="2000"/>
              <a:t>Memory and CPU visualization</a:t>
            </a:r>
          </a:p>
          <a:p>
            <a:pPr>
              <a:defRPr sz="2000"/>
            </a:pPr>
            <a:r>
              <a:rPr lang="en-US" sz="2000"/>
              <a:t>Pod availability tracking</a:t>
            </a:r>
          </a:p>
          <a:p>
            <a:pPr>
              <a:defRPr sz="2000"/>
            </a:pPr>
            <a:r>
              <a:rPr lang="en-US" sz="2000"/>
              <a:t>Useful for production diagnostics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5459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A565-E47D-7B6D-7288-8F815C2A2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Production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70CB-9CA9-E75A-0997-6F1DEB1D9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IN" dirty="0"/>
              <a:t>Helm-based deployments</a:t>
            </a:r>
          </a:p>
          <a:p>
            <a:pPr>
              <a:defRPr sz="2000"/>
            </a:pPr>
            <a:r>
              <a:rPr lang="en-IN" dirty="0"/>
              <a:t>Blue/Green deployment strategy</a:t>
            </a:r>
          </a:p>
          <a:p>
            <a:pPr>
              <a:defRPr sz="2000"/>
            </a:pPr>
            <a:r>
              <a:rPr lang="en-IN" dirty="0"/>
              <a:t>Automated vulnerability scanning</a:t>
            </a:r>
          </a:p>
          <a:p>
            <a:pPr>
              <a:defRPr sz="2000"/>
            </a:pPr>
            <a:r>
              <a:rPr lang="en-IN" dirty="0" err="1"/>
              <a:t>GitOps</a:t>
            </a:r>
            <a:r>
              <a:rPr lang="en-IN" dirty="0"/>
              <a:t> using </a:t>
            </a:r>
            <a:r>
              <a:rPr lang="en-IN" dirty="0" err="1"/>
              <a:t>ArgoCD</a:t>
            </a:r>
            <a:endParaRPr lang="en-IN" dirty="0"/>
          </a:p>
          <a:p>
            <a:pPr>
              <a:defRPr sz="2000"/>
            </a:pPr>
            <a:r>
              <a:rPr lang="en-IN" dirty="0"/>
              <a:t>Horizontal pod autoscaling</a:t>
            </a:r>
          </a:p>
          <a:p>
            <a:pPr>
              <a:defRPr sz="2000"/>
            </a:pPr>
            <a:r>
              <a:rPr lang="en-IN" dirty="0"/>
              <a:t>Centralized log aggregation</a:t>
            </a:r>
          </a:p>
        </p:txBody>
      </p:sp>
    </p:spTree>
    <p:extLst>
      <p:ext uri="{BB962C8B-B14F-4D97-AF65-F5344CB8AC3E}">
        <p14:creationId xmlns:p14="http://schemas.microsoft.com/office/powerpoint/2010/main" val="606321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4CB4-23B1-E364-76C4-0C13AF2C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6B8E4-3DB6-B819-224D-5A7D279E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Implemented complete ROS2 CI/CD workflow</a:t>
            </a:r>
          </a:p>
          <a:p>
            <a:pPr>
              <a:defRPr sz="2000"/>
            </a:pPr>
            <a:r>
              <a:rPr lang="en-US" dirty="0"/>
              <a:t>Automated build, test, push and deployment</a:t>
            </a:r>
          </a:p>
          <a:p>
            <a:pPr>
              <a:defRPr sz="2000"/>
            </a:pPr>
            <a:r>
              <a:rPr lang="en-US" dirty="0"/>
              <a:t>Secure and scalable AKS deployment</a:t>
            </a:r>
          </a:p>
          <a:p>
            <a:pPr>
              <a:defRPr sz="2000"/>
            </a:pPr>
            <a:r>
              <a:rPr lang="en-US" dirty="0"/>
              <a:t>Production-grade monitoring solution</a:t>
            </a:r>
          </a:p>
          <a:p>
            <a:pPr>
              <a:defRPr sz="2000"/>
            </a:pPr>
            <a:r>
              <a:rPr lang="en-US" dirty="0"/>
              <a:t>Cloud-native robotics DevOps architecture</a:t>
            </a:r>
          </a:p>
        </p:txBody>
      </p:sp>
    </p:spTree>
    <p:extLst>
      <p:ext uri="{BB962C8B-B14F-4D97-AF65-F5344CB8AC3E}">
        <p14:creationId xmlns:p14="http://schemas.microsoft.com/office/powerpoint/2010/main" val="43872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4AAC4-4113-B214-C218-88B6DB3C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3" y="1834670"/>
            <a:ext cx="7982712" cy="2527018"/>
          </a:xfrm>
        </p:spPr>
        <p:txBody>
          <a:bodyPr>
            <a:normAutofit/>
          </a:bodyPr>
          <a:lstStyle/>
          <a:p>
            <a:r>
              <a:rPr lang="en-IN" sz="5400" dirty="0"/>
              <a:t>Thank </a:t>
            </a:r>
            <a:r>
              <a:rPr lang="en-IN" sz="5400" dirty="0" err="1"/>
              <a:t>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4130562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41</TotalTime>
  <Words>344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ROS2 Jazzy CI/CD Pipeline Demo</vt:lpstr>
      <vt:lpstr>Problem Statement</vt:lpstr>
      <vt:lpstr>High-Level Architecture</vt:lpstr>
      <vt:lpstr>ROS2 Demo Application</vt:lpstr>
      <vt:lpstr>Azure DevOps Pipeline</vt:lpstr>
      <vt:lpstr>Azure Container Registry</vt:lpstr>
      <vt:lpstr>Security Implementation</vt:lpstr>
      <vt:lpstr>Monitoring Architecture</vt:lpstr>
      <vt:lpstr>Production Improvements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Sahu</dc:creator>
  <cp:lastModifiedBy>Abhishek Sahu</cp:lastModifiedBy>
  <cp:revision>1</cp:revision>
  <dcterms:created xsi:type="dcterms:W3CDTF">2026-05-14T11:30:00Z</dcterms:created>
  <dcterms:modified xsi:type="dcterms:W3CDTF">2026-05-14T12:11:51Z</dcterms:modified>
</cp:coreProperties>
</file>